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윤고딕" panose="020B0600000101010101" charset="-127"/>
      <p:regular r:id="rId16"/>
    </p:embeddedFont>
    <p:embeddedFont>
      <p:font typeface="윤고딕 Bold" panose="020B0600000101010101" charset="-127"/>
      <p:regular r:id="rId17"/>
    </p:embeddedFont>
    <p:embeddedFont>
      <p:font typeface="윤고딕 Medium" panose="020B0600000101010101" charset="-127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Montserrat Semi-Bold" panose="020B0600000101010101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80" y="2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578320"/>
            <a:ext cx="8893677" cy="565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4"/>
              </a:lnSpc>
            </a:pPr>
            <a:r>
              <a:rPr lang="en-US" sz="3488">
                <a:solidFill>
                  <a:srgbClr val="393939"/>
                </a:solidFill>
                <a:latin typeface="윤고딕 Medium"/>
                <a:ea typeface="윤고딕 Medium"/>
              </a:rPr>
              <a:t>직업&amp;학과 추천 프로젝트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9922377" y="2001417"/>
            <a:ext cx="7336923" cy="7256883"/>
          </a:xfrm>
          <a:custGeom>
            <a:avLst/>
            <a:gdLst/>
            <a:ahLst/>
            <a:cxnLst/>
            <a:rect l="l" t="t" r="r" b="b"/>
            <a:pathLst>
              <a:path w="7336923" h="7256883">
                <a:moveTo>
                  <a:pt x="7336923" y="0"/>
                </a:moveTo>
                <a:lnTo>
                  <a:pt x="0" y="0"/>
                </a:lnTo>
                <a:lnTo>
                  <a:pt x="0" y="7256883"/>
                </a:lnTo>
                <a:lnTo>
                  <a:pt x="7336923" y="7256883"/>
                </a:lnTo>
                <a:lnTo>
                  <a:pt x="733692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569348"/>
            <a:ext cx="8200986" cy="183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29"/>
              </a:lnSpc>
            </a:pPr>
            <a:r>
              <a:rPr lang="en-US" sz="12107">
                <a:solidFill>
                  <a:srgbClr val="527DBF"/>
                </a:solidFill>
                <a:latin typeface="Montserrat Semi-Bold"/>
              </a:rPr>
              <a:t>MBTI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787242"/>
            <a:ext cx="5283666" cy="45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63"/>
              </a:lnSpc>
            </a:pPr>
            <a:r>
              <a:rPr lang="en-US" sz="2894" dirty="0">
                <a:solidFill>
                  <a:srgbClr val="393939"/>
                </a:solidFill>
                <a:latin typeface="윤고딕 Medium"/>
                <a:ea typeface="윤고딕 Medium"/>
              </a:rPr>
              <a:t>2조 </a:t>
            </a:r>
            <a:r>
              <a:rPr lang="en-US" sz="2894">
                <a:solidFill>
                  <a:srgbClr val="393939"/>
                </a:solidFill>
                <a:latin typeface="윤고딕 Medium"/>
                <a:ea typeface="윤고딕 Medium"/>
              </a:rPr>
              <a:t>- 다</a:t>
            </a:r>
            <a:r>
              <a:rPr lang="ko-KR" altLang="en-US" sz="2894">
                <a:solidFill>
                  <a:srgbClr val="393939"/>
                </a:solidFill>
                <a:latin typeface="윤고딕 Medium"/>
                <a:ea typeface="윤고딕 Medium"/>
              </a:rPr>
              <a:t>현</a:t>
            </a:r>
            <a:r>
              <a:rPr lang="en-US" sz="2894">
                <a:solidFill>
                  <a:srgbClr val="393939"/>
                </a:solidFill>
                <a:latin typeface="윤고딕 Medium"/>
                <a:ea typeface="윤고딕 Medium"/>
              </a:rPr>
              <a:t>, </a:t>
            </a:r>
            <a:r>
              <a:rPr lang="en-US" sz="2894" dirty="0" err="1">
                <a:solidFill>
                  <a:srgbClr val="393939"/>
                </a:solidFill>
                <a:latin typeface="윤고딕 Medium"/>
                <a:ea typeface="윤고딕 Medium"/>
              </a:rPr>
              <a:t>은영</a:t>
            </a:r>
            <a:r>
              <a:rPr lang="en-US" sz="2894" dirty="0">
                <a:solidFill>
                  <a:srgbClr val="393939"/>
                </a:solidFill>
                <a:latin typeface="윤고딕 Medium"/>
                <a:ea typeface="윤고딕 Medium"/>
              </a:rPr>
              <a:t>, </a:t>
            </a:r>
            <a:r>
              <a:rPr lang="en-US" sz="2894" dirty="0" err="1">
                <a:solidFill>
                  <a:srgbClr val="393939"/>
                </a:solidFill>
                <a:latin typeface="윤고딕 Medium"/>
                <a:ea typeface="윤고딕 Medium"/>
              </a:rPr>
              <a:t>지현</a:t>
            </a:r>
            <a:r>
              <a:rPr lang="en-US" sz="2894" dirty="0">
                <a:solidFill>
                  <a:srgbClr val="393939"/>
                </a:solidFill>
                <a:latin typeface="윤고딕 Medium"/>
                <a:ea typeface="윤고딕 Medium"/>
              </a:rPr>
              <a:t>, </a:t>
            </a:r>
            <a:r>
              <a:rPr lang="en-US" sz="2894" dirty="0" err="1">
                <a:solidFill>
                  <a:srgbClr val="393939"/>
                </a:solidFill>
                <a:latin typeface="윤고딕 Medium"/>
                <a:ea typeface="윤고딕 Medium"/>
              </a:rPr>
              <a:t>경민</a:t>
            </a:r>
            <a:endParaRPr lang="en-US" sz="2894" dirty="0">
              <a:solidFill>
                <a:srgbClr val="393939"/>
              </a:solidFill>
              <a:latin typeface="윤고딕 Medium"/>
              <a:ea typeface="윤고딕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191362" y="2842748"/>
            <a:ext cx="4931770" cy="0"/>
          </a:xfrm>
          <a:prstGeom prst="line">
            <a:avLst/>
          </a:prstGeom>
          <a:ln w="28575" cap="flat">
            <a:solidFill>
              <a:srgbClr val="527D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2191362" y="4214375"/>
            <a:ext cx="4931770" cy="0"/>
          </a:xfrm>
          <a:prstGeom prst="line">
            <a:avLst/>
          </a:prstGeom>
          <a:ln w="28575" cap="flat">
            <a:solidFill>
              <a:srgbClr val="527D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2191362" y="8038104"/>
            <a:ext cx="4931770" cy="0"/>
          </a:xfrm>
          <a:prstGeom prst="line">
            <a:avLst/>
          </a:prstGeom>
          <a:ln w="28575" cap="flat">
            <a:solidFill>
              <a:srgbClr val="527D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028700" y="5511814"/>
            <a:ext cx="2875428" cy="3746486"/>
          </a:xfrm>
          <a:custGeom>
            <a:avLst/>
            <a:gdLst/>
            <a:ahLst/>
            <a:cxnLst/>
            <a:rect l="l" t="t" r="r" b="b"/>
            <a:pathLst>
              <a:path w="2875428" h="3746486">
                <a:moveTo>
                  <a:pt x="0" y="0"/>
                </a:moveTo>
                <a:lnTo>
                  <a:pt x="2875428" y="0"/>
                </a:lnTo>
                <a:lnTo>
                  <a:pt x="2875428" y="3746486"/>
                </a:lnTo>
                <a:lnTo>
                  <a:pt x="0" y="3746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466414" y="2361101"/>
            <a:ext cx="7972962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527DBF"/>
                </a:solidFill>
                <a:ea typeface="윤고딕 Medium"/>
              </a:rPr>
              <a:t>목차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1362" y="2233619"/>
            <a:ext cx="4659539" cy="426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4"/>
              </a:lnSpc>
            </a:pPr>
            <a:r>
              <a:rPr lang="en-US" sz="2695">
                <a:solidFill>
                  <a:srgbClr val="393939"/>
                </a:solidFill>
                <a:ea typeface="윤고딕"/>
              </a:rPr>
              <a:t>주제선정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91362" y="3506975"/>
            <a:ext cx="4659539" cy="426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4"/>
              </a:lnSpc>
            </a:pPr>
            <a:r>
              <a:rPr lang="en-US" sz="2695">
                <a:solidFill>
                  <a:srgbClr val="393939"/>
                </a:solidFill>
                <a:ea typeface="윤고딕"/>
              </a:rPr>
              <a:t>팀원소개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91414" y="7366007"/>
            <a:ext cx="4931718" cy="426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4"/>
              </a:lnSpc>
            </a:pPr>
            <a:r>
              <a:rPr lang="en-US" sz="2695">
                <a:solidFill>
                  <a:srgbClr val="393939"/>
                </a:solidFill>
                <a:latin typeface="윤고딕"/>
                <a:ea typeface="윤고딕"/>
              </a:rPr>
              <a:t>구현 &amp; 테스트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159472"/>
            <a:ext cx="4893547" cy="1252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53"/>
              </a:lnSpc>
            </a:pPr>
            <a:r>
              <a:rPr lang="en-US" sz="7323">
                <a:solidFill>
                  <a:srgbClr val="527DBF"/>
                </a:solidFill>
                <a:latin typeface="Montserrat Semi-Bold"/>
              </a:rPr>
              <a:t>01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2191362" y="5526101"/>
            <a:ext cx="4931770" cy="0"/>
          </a:xfrm>
          <a:prstGeom prst="line">
            <a:avLst/>
          </a:prstGeom>
          <a:ln w="28575" cap="flat">
            <a:solidFill>
              <a:srgbClr val="527D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2191362" y="6724566"/>
            <a:ext cx="4931770" cy="0"/>
          </a:xfrm>
          <a:prstGeom prst="line">
            <a:avLst/>
          </a:prstGeom>
          <a:ln w="28575" cap="flat">
            <a:solidFill>
              <a:srgbClr val="527D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12191362" y="6055266"/>
            <a:ext cx="4659539" cy="426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4"/>
              </a:lnSpc>
            </a:pPr>
            <a:r>
              <a:rPr lang="en-US" sz="2695">
                <a:solidFill>
                  <a:srgbClr val="393939"/>
                </a:solidFill>
                <a:latin typeface="윤고딕"/>
                <a:ea typeface="윤고딕"/>
              </a:rPr>
              <a:t>ERD &amp; SQL 생성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91362" y="4876363"/>
            <a:ext cx="4659539" cy="426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4"/>
              </a:lnSpc>
            </a:pPr>
            <a:r>
              <a:rPr lang="en-US" sz="2695">
                <a:solidFill>
                  <a:srgbClr val="393939"/>
                </a:solidFill>
                <a:ea typeface="윤고딕"/>
              </a:rPr>
              <a:t>요구사항 명세서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47337" y="2206802"/>
            <a:ext cx="6542738" cy="4315650"/>
          </a:xfrm>
          <a:custGeom>
            <a:avLst/>
            <a:gdLst/>
            <a:ahLst/>
            <a:cxnLst/>
            <a:rect l="l" t="t" r="r" b="b"/>
            <a:pathLst>
              <a:path w="6542738" h="4315650">
                <a:moveTo>
                  <a:pt x="0" y="0"/>
                </a:moveTo>
                <a:lnTo>
                  <a:pt x="6542738" y="0"/>
                </a:lnTo>
                <a:lnTo>
                  <a:pt x="6542738" y="4315649"/>
                </a:lnTo>
                <a:lnTo>
                  <a:pt x="0" y="43156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08553" y="3088689"/>
            <a:ext cx="10606101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19"/>
              </a:lnSpc>
            </a:pPr>
            <a:r>
              <a:rPr lang="en-US" sz="7099">
                <a:solidFill>
                  <a:srgbClr val="527DBF"/>
                </a:solidFill>
                <a:ea typeface="윤고딕 Medium"/>
              </a:rPr>
              <a:t>프로젝트 개요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08553" y="4193589"/>
            <a:ext cx="4133841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527DBF"/>
                </a:solidFill>
                <a:ea typeface="윤고딕 Medium"/>
              </a:rPr>
              <a:t>주제선정의 의유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08553" y="1377714"/>
            <a:ext cx="4893547" cy="170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32"/>
              </a:lnSpc>
            </a:pPr>
            <a:r>
              <a:rPr lang="en-US" sz="10023">
                <a:solidFill>
                  <a:srgbClr val="527DBF"/>
                </a:solidFill>
                <a:latin typeface="Montserrat Semi-Bold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551151"/>
            <a:ext cx="16225689" cy="1455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527DBF"/>
                </a:solidFill>
                <a:latin typeface="윤고딕"/>
                <a:ea typeface="윤고딕"/>
              </a:rPr>
              <a:t>취업 준비에 관심이 많은 사람들을 위해 최근 트렌드인 mbti 와 결합하여 </a:t>
            </a:r>
          </a:p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527DBF"/>
                </a:solidFill>
                <a:latin typeface="윤고딕"/>
                <a:ea typeface="윤고딕"/>
              </a:rPr>
              <a:t>직업 및 적성, 학과 추천을 가볍게 즐길 수 있도록 주제를 선정하게 되었다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99051" y="3803940"/>
            <a:ext cx="7972962" cy="112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>
                <a:solidFill>
                  <a:srgbClr val="527DBF"/>
                </a:solidFill>
                <a:ea typeface="윤고딕 Medium"/>
              </a:rPr>
              <a:t>팀원 소개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52277" y="3477209"/>
            <a:ext cx="4893547" cy="170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32"/>
              </a:lnSpc>
            </a:pPr>
            <a:r>
              <a:rPr lang="en-US" sz="10023">
                <a:solidFill>
                  <a:srgbClr val="527DBF"/>
                </a:solidFill>
                <a:latin typeface="Montserrat Semi-Bold"/>
              </a:rPr>
              <a:t>03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10783297" y="5601822"/>
            <a:ext cx="3131275" cy="3656478"/>
          </a:xfrm>
          <a:custGeom>
            <a:avLst/>
            <a:gdLst/>
            <a:ahLst/>
            <a:cxnLst/>
            <a:rect l="l" t="t" r="r" b="b"/>
            <a:pathLst>
              <a:path w="3131275" h="3656478">
                <a:moveTo>
                  <a:pt x="3131275" y="0"/>
                </a:moveTo>
                <a:lnTo>
                  <a:pt x="0" y="0"/>
                </a:lnTo>
                <a:lnTo>
                  <a:pt x="0" y="3656478"/>
                </a:lnTo>
                <a:lnTo>
                  <a:pt x="3131275" y="3656478"/>
                </a:lnTo>
                <a:lnTo>
                  <a:pt x="31312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658620" y="7552718"/>
            <a:ext cx="3474334" cy="1705582"/>
          </a:xfrm>
          <a:custGeom>
            <a:avLst/>
            <a:gdLst/>
            <a:ahLst/>
            <a:cxnLst/>
            <a:rect l="l" t="t" r="r" b="b"/>
            <a:pathLst>
              <a:path w="3474334" h="1705582">
                <a:moveTo>
                  <a:pt x="0" y="0"/>
                </a:moveTo>
                <a:lnTo>
                  <a:pt x="3474334" y="0"/>
                </a:lnTo>
                <a:lnTo>
                  <a:pt x="3474334" y="1705582"/>
                </a:lnTo>
                <a:lnTo>
                  <a:pt x="0" y="1705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0931" y="2801041"/>
            <a:ext cx="3978192" cy="6457259"/>
            <a:chOff x="0" y="0"/>
            <a:chExt cx="1047754" cy="17006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7754" cy="1700677"/>
            </a:xfrm>
            <a:custGeom>
              <a:avLst/>
              <a:gdLst/>
              <a:ahLst/>
              <a:cxnLst/>
              <a:rect l="l" t="t" r="r" b="b"/>
              <a:pathLst>
                <a:path w="1047754" h="1700677">
                  <a:moveTo>
                    <a:pt x="0" y="0"/>
                  </a:moveTo>
                  <a:lnTo>
                    <a:pt x="1047754" y="0"/>
                  </a:lnTo>
                  <a:lnTo>
                    <a:pt x="1047754" y="1700677"/>
                  </a:lnTo>
                  <a:lnTo>
                    <a:pt x="0" y="1700677"/>
                  </a:lnTo>
                  <a:close/>
                </a:path>
              </a:pathLst>
            </a:custGeom>
            <a:solidFill>
              <a:srgbClr val="527DB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047754" cy="1710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2081" y="6303049"/>
            <a:ext cx="51558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EFEFEF"/>
                </a:solidFill>
                <a:ea typeface="윤고딕 Medium"/>
              </a:rPr>
              <a:t>성다현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211542"/>
            <a:ext cx="5155892" cy="174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dirty="0">
                <a:solidFill>
                  <a:srgbClr val="EFEFEF"/>
                </a:solidFill>
                <a:latin typeface="윤고딕"/>
                <a:ea typeface="윤고딕"/>
              </a:rPr>
              <a:t>-</a:t>
            </a:r>
            <a:r>
              <a:rPr lang="en-US" sz="2500" dirty="0" err="1">
                <a:solidFill>
                  <a:srgbClr val="EFEFEF"/>
                </a:solidFill>
                <a:latin typeface="윤고딕"/>
                <a:ea typeface="윤고딕"/>
              </a:rPr>
              <a:t>프로젝트</a:t>
            </a:r>
            <a:r>
              <a:rPr lang="en-US" sz="2500" dirty="0">
                <a:solidFill>
                  <a:srgbClr val="EFEFEF"/>
                </a:solidFill>
                <a:latin typeface="윤고딕"/>
                <a:ea typeface="윤고딕"/>
              </a:rPr>
              <a:t> </a:t>
            </a:r>
            <a:r>
              <a:rPr lang="en-US" sz="2500" dirty="0" err="1">
                <a:solidFill>
                  <a:srgbClr val="EFEFEF"/>
                </a:solidFill>
                <a:latin typeface="윤고딕"/>
                <a:ea typeface="윤고딕"/>
              </a:rPr>
              <a:t>진행</a:t>
            </a:r>
            <a:endParaRPr lang="en-US" sz="2500" dirty="0">
              <a:solidFill>
                <a:srgbClr val="EFEFEF"/>
              </a:solidFill>
              <a:latin typeface="윤고딕"/>
              <a:ea typeface="윤고딕"/>
            </a:endParaRPr>
          </a:p>
          <a:p>
            <a:pPr algn="l">
              <a:lnSpc>
                <a:spcPts val="3500"/>
              </a:lnSpc>
            </a:pPr>
            <a:r>
              <a:rPr lang="en-US" sz="2500" dirty="0">
                <a:solidFill>
                  <a:srgbClr val="EFEFEF"/>
                </a:solidFill>
                <a:latin typeface="윤고딕"/>
                <a:ea typeface="윤고딕"/>
              </a:rPr>
              <a:t>-</a:t>
            </a:r>
            <a:r>
              <a:rPr lang="en-US" sz="2500" dirty="0" err="1">
                <a:solidFill>
                  <a:srgbClr val="EFEFEF"/>
                </a:solidFill>
                <a:latin typeface="윤고딕"/>
                <a:ea typeface="윤고딕"/>
              </a:rPr>
              <a:t>데이터</a:t>
            </a:r>
            <a:r>
              <a:rPr lang="en-US" sz="2500" dirty="0">
                <a:solidFill>
                  <a:srgbClr val="EFEFEF"/>
                </a:solidFill>
                <a:latin typeface="윤고딕"/>
                <a:ea typeface="윤고딕"/>
              </a:rPr>
              <a:t> </a:t>
            </a:r>
            <a:r>
              <a:rPr lang="en-US" sz="2500" dirty="0" err="1">
                <a:solidFill>
                  <a:srgbClr val="EFEFEF"/>
                </a:solidFill>
                <a:latin typeface="윤고딕"/>
                <a:ea typeface="윤고딕"/>
              </a:rPr>
              <a:t>입력</a:t>
            </a:r>
            <a:endParaRPr lang="en-US" sz="2500" dirty="0">
              <a:solidFill>
                <a:srgbClr val="EFEFEF"/>
              </a:solidFill>
              <a:latin typeface="윤고딕"/>
              <a:ea typeface="윤고딕"/>
            </a:endParaRPr>
          </a:p>
          <a:p>
            <a:pPr algn="l">
              <a:lnSpc>
                <a:spcPts val="3500"/>
              </a:lnSpc>
            </a:pPr>
            <a:r>
              <a:rPr lang="en-US" sz="2500" dirty="0">
                <a:solidFill>
                  <a:srgbClr val="EFEFEF"/>
                </a:solidFill>
                <a:latin typeface="윤고딕"/>
                <a:ea typeface="윤고딕"/>
              </a:rPr>
              <a:t>-</a:t>
            </a:r>
            <a:r>
              <a:rPr lang="en-US" sz="2500" dirty="0" err="1">
                <a:solidFill>
                  <a:srgbClr val="EFEFEF"/>
                </a:solidFill>
                <a:latin typeface="윤고딕"/>
                <a:ea typeface="윤고딕"/>
              </a:rPr>
              <a:t>자료조사</a:t>
            </a:r>
            <a:endParaRPr lang="en-US" sz="2500" dirty="0">
              <a:solidFill>
                <a:srgbClr val="EFEFEF"/>
              </a:solidFill>
              <a:latin typeface="윤고딕"/>
              <a:ea typeface="윤고딕"/>
            </a:endParaRPr>
          </a:p>
          <a:p>
            <a:pPr algn="l">
              <a:lnSpc>
                <a:spcPts val="3500"/>
              </a:lnSpc>
            </a:pPr>
            <a:r>
              <a:rPr lang="en-US" sz="2500" dirty="0">
                <a:solidFill>
                  <a:srgbClr val="EFEFEF"/>
                </a:solidFill>
                <a:latin typeface="윤고딕"/>
              </a:rPr>
              <a:t>-</a:t>
            </a:r>
            <a:r>
              <a:rPr lang="en-US" sz="2500" dirty="0" err="1">
                <a:solidFill>
                  <a:srgbClr val="EFEFEF"/>
                </a:solidFill>
                <a:latin typeface="윤고딕"/>
              </a:rPr>
              <a:t>sql</a:t>
            </a:r>
            <a:r>
              <a:rPr lang="en-US" sz="2500" dirty="0">
                <a:solidFill>
                  <a:srgbClr val="EFEFEF"/>
                </a:solidFill>
                <a:latin typeface="윤고딕"/>
              </a:rPr>
              <a:t>/ERD </a:t>
            </a:r>
          </a:p>
        </p:txBody>
      </p:sp>
      <p:sp>
        <p:nvSpPr>
          <p:cNvPr id="7" name="AutoShape 7"/>
          <p:cNvSpPr/>
          <p:nvPr/>
        </p:nvSpPr>
        <p:spPr>
          <a:xfrm>
            <a:off x="2311455" y="6933615"/>
            <a:ext cx="637145" cy="0"/>
          </a:xfrm>
          <a:prstGeom prst="line">
            <a:avLst/>
          </a:prstGeom>
          <a:ln w="28575" cap="flat">
            <a:solidFill>
              <a:srgbClr val="F5F5F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4976065" y="2801041"/>
            <a:ext cx="3978192" cy="6457259"/>
            <a:chOff x="0" y="0"/>
            <a:chExt cx="1047754" cy="17006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47754" cy="1700677"/>
            </a:xfrm>
            <a:custGeom>
              <a:avLst/>
              <a:gdLst/>
              <a:ahLst/>
              <a:cxnLst/>
              <a:rect l="l" t="t" r="r" b="b"/>
              <a:pathLst>
                <a:path w="1047754" h="1700677">
                  <a:moveTo>
                    <a:pt x="0" y="0"/>
                  </a:moveTo>
                  <a:lnTo>
                    <a:pt x="1047754" y="0"/>
                  </a:lnTo>
                  <a:lnTo>
                    <a:pt x="1047754" y="1700677"/>
                  </a:lnTo>
                  <a:lnTo>
                    <a:pt x="0" y="1700677"/>
                  </a:lnTo>
                  <a:close/>
                </a:path>
              </a:pathLst>
            </a:custGeom>
            <a:solidFill>
              <a:srgbClr val="527DBF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47754" cy="1710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41815" y="2801041"/>
            <a:ext cx="3978192" cy="6457259"/>
            <a:chOff x="0" y="0"/>
            <a:chExt cx="1047754" cy="170067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47754" cy="1700677"/>
            </a:xfrm>
            <a:custGeom>
              <a:avLst/>
              <a:gdLst/>
              <a:ahLst/>
              <a:cxnLst/>
              <a:rect l="l" t="t" r="r" b="b"/>
              <a:pathLst>
                <a:path w="1047754" h="1700677">
                  <a:moveTo>
                    <a:pt x="0" y="0"/>
                  </a:moveTo>
                  <a:lnTo>
                    <a:pt x="1047754" y="0"/>
                  </a:lnTo>
                  <a:lnTo>
                    <a:pt x="1047754" y="1700677"/>
                  </a:lnTo>
                  <a:lnTo>
                    <a:pt x="0" y="1700677"/>
                  </a:lnTo>
                  <a:close/>
                </a:path>
              </a:pathLst>
            </a:custGeom>
            <a:solidFill>
              <a:srgbClr val="527DBF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47754" cy="1710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11198" y="2801041"/>
            <a:ext cx="3978192" cy="6457259"/>
            <a:chOff x="0" y="0"/>
            <a:chExt cx="1047754" cy="170067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47754" cy="1700677"/>
            </a:xfrm>
            <a:custGeom>
              <a:avLst/>
              <a:gdLst/>
              <a:ahLst/>
              <a:cxnLst/>
              <a:rect l="l" t="t" r="r" b="b"/>
              <a:pathLst>
                <a:path w="1047754" h="1700677">
                  <a:moveTo>
                    <a:pt x="0" y="0"/>
                  </a:moveTo>
                  <a:lnTo>
                    <a:pt x="1047754" y="0"/>
                  </a:lnTo>
                  <a:lnTo>
                    <a:pt x="1047754" y="1700677"/>
                  </a:lnTo>
                  <a:lnTo>
                    <a:pt x="0" y="1700677"/>
                  </a:lnTo>
                  <a:close/>
                </a:path>
              </a:pathLst>
            </a:custGeom>
            <a:solidFill>
              <a:srgbClr val="527DB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047754" cy="1710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6646588" y="6933615"/>
            <a:ext cx="637145" cy="0"/>
          </a:xfrm>
          <a:prstGeom prst="line">
            <a:avLst/>
          </a:prstGeom>
          <a:ln w="28575" cap="flat">
            <a:solidFill>
              <a:srgbClr val="F5F5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10981722" y="6933615"/>
            <a:ext cx="637145" cy="0"/>
          </a:xfrm>
          <a:prstGeom prst="line">
            <a:avLst/>
          </a:prstGeom>
          <a:ln w="28575" cap="flat">
            <a:solidFill>
              <a:srgbClr val="F5F5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15391481" y="6933615"/>
            <a:ext cx="637145" cy="0"/>
          </a:xfrm>
          <a:prstGeom prst="line">
            <a:avLst/>
          </a:prstGeom>
          <a:ln w="28575" cap="flat">
            <a:solidFill>
              <a:srgbClr val="F5F5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/>
          <p:cNvSpPr/>
          <p:nvPr/>
        </p:nvSpPr>
        <p:spPr>
          <a:xfrm>
            <a:off x="9744331" y="3146345"/>
            <a:ext cx="3111926" cy="3111926"/>
          </a:xfrm>
          <a:custGeom>
            <a:avLst/>
            <a:gdLst/>
            <a:ahLst/>
            <a:cxnLst/>
            <a:rect l="l" t="t" r="r" b="b"/>
            <a:pathLst>
              <a:path w="3111926" h="3111926">
                <a:moveTo>
                  <a:pt x="0" y="0"/>
                </a:moveTo>
                <a:lnTo>
                  <a:pt x="3111926" y="0"/>
                </a:lnTo>
                <a:lnTo>
                  <a:pt x="3111926" y="3111925"/>
                </a:lnTo>
                <a:lnTo>
                  <a:pt x="0" y="3111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4083572" y="3146345"/>
            <a:ext cx="3094679" cy="3111926"/>
          </a:xfrm>
          <a:custGeom>
            <a:avLst/>
            <a:gdLst/>
            <a:ahLst/>
            <a:cxnLst/>
            <a:rect l="l" t="t" r="r" b="b"/>
            <a:pathLst>
              <a:path w="3094679" h="3111926">
                <a:moveTo>
                  <a:pt x="0" y="0"/>
                </a:moveTo>
                <a:lnTo>
                  <a:pt x="3094679" y="0"/>
                </a:lnTo>
                <a:lnTo>
                  <a:pt x="3094679" y="3111925"/>
                </a:lnTo>
                <a:lnTo>
                  <a:pt x="0" y="3111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620" r="-43030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5400872" y="3163633"/>
            <a:ext cx="3111926" cy="3094637"/>
          </a:xfrm>
          <a:custGeom>
            <a:avLst/>
            <a:gdLst/>
            <a:ahLst/>
            <a:cxnLst/>
            <a:rect l="l" t="t" r="r" b="b"/>
            <a:pathLst>
              <a:path w="3111926" h="3094637">
                <a:moveTo>
                  <a:pt x="0" y="0"/>
                </a:moveTo>
                <a:lnTo>
                  <a:pt x="3111926" y="0"/>
                </a:lnTo>
                <a:lnTo>
                  <a:pt x="3111926" y="3094637"/>
                </a:lnTo>
                <a:lnTo>
                  <a:pt x="0" y="3094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063382" y="3122134"/>
            <a:ext cx="3133290" cy="3133290"/>
          </a:xfrm>
          <a:custGeom>
            <a:avLst/>
            <a:gdLst/>
            <a:ahLst/>
            <a:cxnLst/>
            <a:rect l="l" t="t" r="r" b="b"/>
            <a:pathLst>
              <a:path w="3133290" h="3133290">
                <a:moveTo>
                  <a:pt x="0" y="0"/>
                </a:moveTo>
                <a:lnTo>
                  <a:pt x="3133290" y="0"/>
                </a:lnTo>
                <a:lnTo>
                  <a:pt x="3133290" y="3133290"/>
                </a:lnTo>
                <a:lnTo>
                  <a:pt x="0" y="31332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0" y="37283"/>
            <a:ext cx="6437755" cy="1252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53"/>
              </a:lnSpc>
            </a:pPr>
            <a:r>
              <a:rPr lang="en-US" sz="7323">
                <a:solidFill>
                  <a:srgbClr val="527DBF"/>
                </a:solidFill>
                <a:latin typeface="Montserrat Semi-Bold"/>
                <a:ea typeface="Montserrat Semi-Bold"/>
              </a:rPr>
              <a:t>03. 팀원 소개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387215" y="6303049"/>
            <a:ext cx="51558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EFEFEF"/>
                </a:solidFill>
                <a:ea typeface="윤고딕 Medium"/>
              </a:rPr>
              <a:t>서은영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00872" y="7230592"/>
            <a:ext cx="5155892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EFEFEF"/>
                </a:solidFill>
                <a:latin typeface="윤고딕"/>
                <a:ea typeface="윤고딕"/>
              </a:rPr>
              <a:t>-ppt작성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EFEFEF"/>
                </a:solidFill>
                <a:latin typeface="윤고딕"/>
                <a:ea typeface="윤고딕"/>
              </a:rPr>
              <a:t>-데이터 입력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EFEFEF"/>
                </a:solidFill>
                <a:latin typeface="윤고딕"/>
                <a:ea typeface="윤고딕"/>
              </a:rPr>
              <a:t>-자료조사</a:t>
            </a:r>
          </a:p>
          <a:p>
            <a:pPr algn="l">
              <a:lnSpc>
                <a:spcPts val="3500"/>
              </a:lnSpc>
            </a:pPr>
            <a:endParaRPr lang="en-US" sz="2500">
              <a:solidFill>
                <a:srgbClr val="EFEFEF"/>
              </a:solidFill>
              <a:latin typeface="윤고딕"/>
              <a:ea typeface="윤고딕"/>
            </a:endParaRPr>
          </a:p>
          <a:p>
            <a:pPr algn="l">
              <a:lnSpc>
                <a:spcPts val="3500"/>
              </a:lnSpc>
            </a:pPr>
            <a:endParaRPr lang="en-US" sz="2500">
              <a:solidFill>
                <a:srgbClr val="EFEFEF"/>
              </a:solidFill>
              <a:latin typeface="윤고딕"/>
              <a:ea typeface="윤고딕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722348" y="6303049"/>
            <a:ext cx="51558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EFEFEF"/>
                </a:solidFill>
                <a:ea typeface="윤고딕 Medium"/>
              </a:rPr>
              <a:t>유지현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44331" y="7230592"/>
            <a:ext cx="5155892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EFEFEF"/>
                </a:solidFill>
                <a:latin typeface="윤고딕"/>
                <a:ea typeface="윤고딕"/>
              </a:rPr>
              <a:t>-아이디어 제공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EFEFEF"/>
                </a:solidFill>
                <a:latin typeface="윤고딕"/>
                <a:ea typeface="윤고딕"/>
              </a:rPr>
              <a:t>-데이터 입력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EFEFEF"/>
                </a:solidFill>
                <a:latin typeface="윤고딕"/>
                <a:ea typeface="윤고딕"/>
              </a:rPr>
              <a:t>-자료조사</a:t>
            </a:r>
          </a:p>
          <a:p>
            <a:pPr algn="l">
              <a:lnSpc>
                <a:spcPts val="3500"/>
              </a:lnSpc>
            </a:pPr>
            <a:endParaRPr lang="en-US" sz="2500">
              <a:solidFill>
                <a:srgbClr val="EFEFEF"/>
              </a:solidFill>
              <a:latin typeface="윤고딕"/>
              <a:ea typeface="윤고딕"/>
            </a:endParaRPr>
          </a:p>
          <a:p>
            <a:pPr algn="l">
              <a:lnSpc>
                <a:spcPts val="3500"/>
              </a:lnSpc>
            </a:pPr>
            <a:endParaRPr lang="en-US" sz="2500">
              <a:solidFill>
                <a:srgbClr val="EFEFEF"/>
              </a:solidFill>
              <a:latin typeface="윤고딕"/>
              <a:ea typeface="윤고딕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132108" y="6303049"/>
            <a:ext cx="51558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EFEFEF"/>
                </a:solidFill>
                <a:ea typeface="윤고딕 Medium"/>
              </a:rPr>
              <a:t>안경민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083572" y="7211542"/>
            <a:ext cx="5155892" cy="2693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dirty="0">
                <a:solidFill>
                  <a:srgbClr val="EFEFEF"/>
                </a:solidFill>
                <a:latin typeface="윤고딕"/>
                <a:ea typeface="윤고딕"/>
              </a:rPr>
              <a:t>-</a:t>
            </a:r>
            <a:r>
              <a:rPr lang="en-US" sz="2500" dirty="0" err="1">
                <a:solidFill>
                  <a:srgbClr val="EFEFEF"/>
                </a:solidFill>
                <a:latin typeface="윤고딕"/>
                <a:ea typeface="윤고딕"/>
              </a:rPr>
              <a:t>팀장</a:t>
            </a:r>
            <a:endParaRPr lang="en-US" sz="2500" dirty="0">
              <a:solidFill>
                <a:srgbClr val="EFEFEF"/>
              </a:solidFill>
              <a:latin typeface="윤고딕"/>
              <a:ea typeface="윤고딕"/>
            </a:endParaRPr>
          </a:p>
          <a:p>
            <a:pPr algn="l">
              <a:lnSpc>
                <a:spcPts val="3500"/>
              </a:lnSpc>
            </a:pPr>
            <a:r>
              <a:rPr lang="en-US" sz="2500" dirty="0">
                <a:solidFill>
                  <a:srgbClr val="EFEFEF"/>
                </a:solidFill>
                <a:latin typeface="윤고딕"/>
                <a:ea typeface="윤고딕"/>
              </a:rPr>
              <a:t>-</a:t>
            </a:r>
            <a:r>
              <a:rPr lang="en-US" sz="2500" dirty="0" err="1">
                <a:solidFill>
                  <a:srgbClr val="EFEFEF"/>
                </a:solidFill>
                <a:latin typeface="윤고딕"/>
                <a:ea typeface="윤고딕"/>
              </a:rPr>
              <a:t>데이터</a:t>
            </a:r>
            <a:r>
              <a:rPr lang="en-US" sz="2500" dirty="0">
                <a:solidFill>
                  <a:srgbClr val="EFEFEF"/>
                </a:solidFill>
                <a:latin typeface="윤고딕"/>
                <a:ea typeface="윤고딕"/>
              </a:rPr>
              <a:t> </a:t>
            </a:r>
            <a:r>
              <a:rPr lang="en-US" sz="2500" dirty="0" err="1">
                <a:solidFill>
                  <a:srgbClr val="EFEFEF"/>
                </a:solidFill>
                <a:latin typeface="윤고딕"/>
                <a:ea typeface="윤고딕"/>
              </a:rPr>
              <a:t>입력</a:t>
            </a:r>
            <a:endParaRPr lang="en-US" sz="2500" dirty="0">
              <a:solidFill>
                <a:srgbClr val="EFEFEF"/>
              </a:solidFill>
              <a:latin typeface="윤고딕"/>
              <a:ea typeface="윤고딕"/>
            </a:endParaRPr>
          </a:p>
          <a:p>
            <a:pPr algn="l">
              <a:lnSpc>
                <a:spcPts val="3500"/>
              </a:lnSpc>
            </a:pPr>
            <a:r>
              <a:rPr lang="en-US" sz="2500" dirty="0">
                <a:solidFill>
                  <a:srgbClr val="EFEFEF"/>
                </a:solidFill>
                <a:latin typeface="윤고딕"/>
                <a:ea typeface="윤고딕"/>
              </a:rPr>
              <a:t>-</a:t>
            </a:r>
            <a:r>
              <a:rPr lang="en-US" sz="2500" dirty="0" err="1">
                <a:solidFill>
                  <a:srgbClr val="EFEFEF"/>
                </a:solidFill>
                <a:latin typeface="윤고딕"/>
                <a:ea typeface="윤고딕"/>
              </a:rPr>
              <a:t>자료조사</a:t>
            </a:r>
            <a:endParaRPr lang="en-US" sz="2500" dirty="0">
              <a:solidFill>
                <a:srgbClr val="EFEFEF"/>
              </a:solidFill>
              <a:latin typeface="윤고딕"/>
              <a:ea typeface="윤고딕"/>
            </a:endParaRPr>
          </a:p>
          <a:p>
            <a:pPr algn="l">
              <a:lnSpc>
                <a:spcPts val="3500"/>
              </a:lnSpc>
            </a:pPr>
            <a:r>
              <a:rPr lang="en-US" sz="2500" dirty="0">
                <a:solidFill>
                  <a:srgbClr val="EFEFEF"/>
                </a:solidFill>
                <a:latin typeface="윤고딕"/>
              </a:rPr>
              <a:t>-</a:t>
            </a:r>
            <a:r>
              <a:rPr lang="en-US" sz="2500" dirty="0" err="1">
                <a:solidFill>
                  <a:srgbClr val="EFEFEF"/>
                </a:solidFill>
                <a:latin typeface="윤고딕"/>
              </a:rPr>
              <a:t>sql</a:t>
            </a:r>
            <a:r>
              <a:rPr lang="en-US" sz="2500" dirty="0">
                <a:solidFill>
                  <a:srgbClr val="EFEFEF"/>
                </a:solidFill>
                <a:latin typeface="윤고딕"/>
              </a:rPr>
              <a:t>/ERD </a:t>
            </a:r>
          </a:p>
          <a:p>
            <a:pPr algn="l">
              <a:lnSpc>
                <a:spcPts val="3500"/>
              </a:lnSpc>
            </a:pPr>
            <a:endParaRPr lang="en-US" sz="2500" dirty="0">
              <a:solidFill>
                <a:srgbClr val="EFEFEF"/>
              </a:solidFill>
              <a:latin typeface="윤고딕"/>
            </a:endParaRPr>
          </a:p>
          <a:p>
            <a:pPr algn="l">
              <a:lnSpc>
                <a:spcPts val="3500"/>
              </a:lnSpc>
            </a:pPr>
            <a:endParaRPr lang="en-US" sz="2500" dirty="0">
              <a:solidFill>
                <a:srgbClr val="EFEFEF"/>
              </a:solidFill>
              <a:latin typeface="윤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37283"/>
            <a:ext cx="9144000" cy="1252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53"/>
              </a:lnSpc>
            </a:pPr>
            <a:r>
              <a:rPr lang="en-US" sz="7323">
                <a:solidFill>
                  <a:srgbClr val="527DBF"/>
                </a:solidFill>
                <a:latin typeface="Montserrat Semi-Bold"/>
                <a:ea typeface="Montserrat Semi-Bold"/>
              </a:rPr>
              <a:t>04. 요구사항 명세서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828260"/>
            <a:ext cx="16383000" cy="46521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16342" y="1289536"/>
            <a:ext cx="11855316" cy="8395807"/>
          </a:xfrm>
          <a:custGeom>
            <a:avLst/>
            <a:gdLst/>
            <a:ahLst/>
            <a:cxnLst/>
            <a:rect l="l" t="t" r="r" b="b"/>
            <a:pathLst>
              <a:path w="11855316" h="8395807">
                <a:moveTo>
                  <a:pt x="0" y="0"/>
                </a:moveTo>
                <a:lnTo>
                  <a:pt x="11855316" y="0"/>
                </a:lnTo>
                <a:lnTo>
                  <a:pt x="11855316" y="8395806"/>
                </a:lnTo>
                <a:lnTo>
                  <a:pt x="0" y="83958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37283"/>
            <a:ext cx="9144000" cy="1252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53"/>
              </a:lnSpc>
            </a:pPr>
            <a:r>
              <a:rPr lang="en-US" sz="7323">
                <a:solidFill>
                  <a:srgbClr val="527DBF"/>
                </a:solidFill>
                <a:latin typeface="Montserrat Semi-Bold"/>
                <a:ea typeface="Montserrat Semi-Bold"/>
              </a:rPr>
              <a:t>05. ERD &amp; SQL 생성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58303" y="0"/>
            <a:ext cx="7919975" cy="10110215"/>
          </a:xfrm>
          <a:custGeom>
            <a:avLst/>
            <a:gdLst/>
            <a:ahLst/>
            <a:cxnLst/>
            <a:rect l="l" t="t" r="r" b="b"/>
            <a:pathLst>
              <a:path w="7919975" h="10110215">
                <a:moveTo>
                  <a:pt x="0" y="0"/>
                </a:moveTo>
                <a:lnTo>
                  <a:pt x="7919975" y="0"/>
                </a:lnTo>
                <a:lnTo>
                  <a:pt x="7919975" y="10110215"/>
                </a:lnTo>
                <a:lnTo>
                  <a:pt x="0" y="101102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4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2510" y="1289536"/>
            <a:ext cx="10114504" cy="8820679"/>
          </a:xfrm>
          <a:custGeom>
            <a:avLst/>
            <a:gdLst/>
            <a:ahLst/>
            <a:cxnLst/>
            <a:rect l="l" t="t" r="r" b="b"/>
            <a:pathLst>
              <a:path w="10114504" h="8820679">
                <a:moveTo>
                  <a:pt x="0" y="0"/>
                </a:moveTo>
                <a:lnTo>
                  <a:pt x="10114504" y="0"/>
                </a:lnTo>
                <a:lnTo>
                  <a:pt x="10114504" y="8820679"/>
                </a:lnTo>
                <a:lnTo>
                  <a:pt x="0" y="8820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97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37283"/>
            <a:ext cx="9144000" cy="1252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53"/>
              </a:lnSpc>
            </a:pPr>
            <a:r>
              <a:rPr lang="en-US" sz="7323">
                <a:solidFill>
                  <a:srgbClr val="527DBF"/>
                </a:solidFill>
                <a:latin typeface="Montserrat Semi-Bold"/>
                <a:ea typeface="Montserrat Semi-Bold"/>
              </a:rPr>
              <a:t>05. ERD &amp; SQL 생성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06042" y="2332101"/>
            <a:ext cx="7653258" cy="6926199"/>
          </a:xfrm>
          <a:custGeom>
            <a:avLst/>
            <a:gdLst/>
            <a:ahLst/>
            <a:cxnLst/>
            <a:rect l="l" t="t" r="r" b="b"/>
            <a:pathLst>
              <a:path w="7653258" h="6926199">
                <a:moveTo>
                  <a:pt x="0" y="0"/>
                </a:moveTo>
                <a:lnTo>
                  <a:pt x="7653258" y="0"/>
                </a:lnTo>
                <a:lnTo>
                  <a:pt x="7653258" y="6926199"/>
                </a:lnTo>
                <a:lnTo>
                  <a:pt x="0" y="6926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20646" y="1928670"/>
            <a:ext cx="4893547" cy="169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>
                <a:solidFill>
                  <a:srgbClr val="527DBF"/>
                </a:solidFill>
                <a:latin typeface="Montserrat Semi-Bold"/>
              </a:rPr>
              <a:t>06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0646" y="3512996"/>
            <a:ext cx="7972962" cy="112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>
                <a:solidFill>
                  <a:srgbClr val="527DBF"/>
                </a:solidFill>
                <a:latin typeface="윤고딕 Medium"/>
                <a:ea typeface="윤고딕 Medium"/>
              </a:rPr>
              <a:t>구현 &amp; 테스트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4474" y="1611918"/>
            <a:ext cx="13552800" cy="3724038"/>
          </a:xfrm>
          <a:custGeom>
            <a:avLst/>
            <a:gdLst/>
            <a:ahLst/>
            <a:cxnLst/>
            <a:rect l="l" t="t" r="r" b="b"/>
            <a:pathLst>
              <a:path w="13552800" h="3724038">
                <a:moveTo>
                  <a:pt x="0" y="0"/>
                </a:moveTo>
                <a:lnTo>
                  <a:pt x="13552800" y="0"/>
                </a:lnTo>
                <a:lnTo>
                  <a:pt x="13552800" y="3724038"/>
                </a:lnTo>
                <a:lnTo>
                  <a:pt x="0" y="3724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932050" y="5658338"/>
            <a:ext cx="12525078" cy="4196382"/>
          </a:xfrm>
          <a:custGeom>
            <a:avLst/>
            <a:gdLst/>
            <a:ahLst/>
            <a:cxnLst/>
            <a:rect l="l" t="t" r="r" b="b"/>
            <a:pathLst>
              <a:path w="12525078" h="4196382">
                <a:moveTo>
                  <a:pt x="0" y="0"/>
                </a:moveTo>
                <a:lnTo>
                  <a:pt x="12525078" y="0"/>
                </a:lnTo>
                <a:lnTo>
                  <a:pt x="12525078" y="4196382"/>
                </a:lnTo>
                <a:lnTo>
                  <a:pt x="0" y="41963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37283"/>
            <a:ext cx="9144000" cy="1252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53"/>
              </a:lnSpc>
            </a:pPr>
            <a:r>
              <a:rPr lang="en-US" sz="7323">
                <a:solidFill>
                  <a:srgbClr val="527DBF"/>
                </a:solidFill>
                <a:latin typeface="Montserrat Semi-Bold"/>
                <a:ea typeface="Montserrat Semi-Bold"/>
              </a:rPr>
              <a:t>05. 구현 &amp; 테스트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657" r="657"/>
          <a:stretch>
            <a:fillRect/>
          </a:stretch>
        </p:blipFill>
        <p:spPr>
          <a:xfrm>
            <a:off x="1925053" y="1686431"/>
            <a:ext cx="14437895" cy="8229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0" y="37283"/>
            <a:ext cx="9144000" cy="1252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53"/>
              </a:lnSpc>
            </a:pPr>
            <a:r>
              <a:rPr lang="en-US" sz="7323">
                <a:solidFill>
                  <a:srgbClr val="527DBF"/>
                </a:solidFill>
                <a:latin typeface="Montserrat Semi-Bold"/>
                <a:ea typeface="Montserrat Semi-Bold"/>
              </a:rPr>
              <a:t>05. 구현 &amp; 테스트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05973" y="1761750"/>
            <a:ext cx="7253327" cy="7760408"/>
          </a:xfrm>
          <a:custGeom>
            <a:avLst/>
            <a:gdLst/>
            <a:ahLst/>
            <a:cxnLst/>
            <a:rect l="l" t="t" r="r" b="b"/>
            <a:pathLst>
              <a:path w="7253327" h="7760408">
                <a:moveTo>
                  <a:pt x="0" y="0"/>
                </a:moveTo>
                <a:lnTo>
                  <a:pt x="7253327" y="0"/>
                </a:lnTo>
                <a:lnTo>
                  <a:pt x="7253327" y="7760408"/>
                </a:lnTo>
                <a:lnTo>
                  <a:pt x="0" y="7760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2" b="-128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20646" y="1928670"/>
            <a:ext cx="4893547" cy="169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>
                <a:solidFill>
                  <a:srgbClr val="527DBF"/>
                </a:solidFill>
                <a:latin typeface="Montserrat Semi-Bold"/>
              </a:rPr>
              <a:t>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0646" y="3512996"/>
            <a:ext cx="7972962" cy="112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>
                <a:solidFill>
                  <a:srgbClr val="527DBF"/>
                </a:solidFill>
                <a:ea typeface="윤고딕 Medium"/>
              </a:rPr>
              <a:t>자체평가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2619" y="2041970"/>
            <a:ext cx="8256155" cy="3355731"/>
            <a:chOff x="0" y="0"/>
            <a:chExt cx="2174460" cy="8838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4460" cy="883814"/>
            </a:xfrm>
            <a:custGeom>
              <a:avLst/>
              <a:gdLst/>
              <a:ahLst/>
              <a:cxnLst/>
              <a:rect l="l" t="t" r="r" b="b"/>
              <a:pathLst>
                <a:path w="2174460" h="883814">
                  <a:moveTo>
                    <a:pt x="0" y="0"/>
                  </a:moveTo>
                  <a:lnTo>
                    <a:pt x="2174460" y="0"/>
                  </a:lnTo>
                  <a:lnTo>
                    <a:pt x="2174460" y="883814"/>
                  </a:lnTo>
                  <a:lnTo>
                    <a:pt x="0" y="883814"/>
                  </a:lnTo>
                  <a:close/>
                </a:path>
              </a:pathLst>
            </a:custGeom>
            <a:solidFill>
              <a:srgbClr val="527DB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74460" cy="893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81863" y="2486031"/>
            <a:ext cx="51558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EFEFEF"/>
                </a:solidFill>
                <a:ea typeface="윤고딕 Medium"/>
              </a:rPr>
              <a:t>성다현</a:t>
            </a:r>
          </a:p>
        </p:txBody>
      </p:sp>
      <p:sp>
        <p:nvSpPr>
          <p:cNvPr id="6" name="AutoShape 6"/>
          <p:cNvSpPr/>
          <p:nvPr/>
        </p:nvSpPr>
        <p:spPr>
          <a:xfrm>
            <a:off x="2311455" y="6933615"/>
            <a:ext cx="637145" cy="0"/>
          </a:xfrm>
          <a:prstGeom prst="line">
            <a:avLst/>
          </a:prstGeom>
          <a:ln w="28575" cap="flat">
            <a:solidFill>
              <a:srgbClr val="F5F5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6646588" y="6933615"/>
            <a:ext cx="637145" cy="0"/>
          </a:xfrm>
          <a:prstGeom prst="line">
            <a:avLst/>
          </a:prstGeom>
          <a:ln w="28575" cap="flat">
            <a:solidFill>
              <a:srgbClr val="F5F5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028700" y="2628546"/>
            <a:ext cx="2073762" cy="2073762"/>
          </a:xfrm>
          <a:custGeom>
            <a:avLst/>
            <a:gdLst/>
            <a:ahLst/>
            <a:cxnLst/>
            <a:rect l="l" t="t" r="r" b="b"/>
            <a:pathLst>
              <a:path w="2073762" h="2073762">
                <a:moveTo>
                  <a:pt x="0" y="0"/>
                </a:moveTo>
                <a:lnTo>
                  <a:pt x="2073762" y="0"/>
                </a:lnTo>
                <a:lnTo>
                  <a:pt x="2073762" y="2073762"/>
                </a:lnTo>
                <a:lnTo>
                  <a:pt x="0" y="2073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0" y="37283"/>
            <a:ext cx="6437755" cy="1252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53"/>
              </a:lnSpc>
            </a:pPr>
            <a:r>
              <a:rPr lang="en-US" sz="7323">
                <a:solidFill>
                  <a:srgbClr val="527DBF"/>
                </a:solidFill>
                <a:latin typeface="Montserrat Semi-Bold"/>
                <a:ea typeface="Montserrat Semi-Bold"/>
              </a:rPr>
              <a:t>07. 자체평가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537370" y="2041970"/>
            <a:ext cx="7721930" cy="3355731"/>
            <a:chOff x="0" y="0"/>
            <a:chExt cx="2033759" cy="88381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33759" cy="883814"/>
            </a:xfrm>
            <a:custGeom>
              <a:avLst/>
              <a:gdLst/>
              <a:ahLst/>
              <a:cxnLst/>
              <a:rect l="l" t="t" r="r" b="b"/>
              <a:pathLst>
                <a:path w="2033759" h="883814">
                  <a:moveTo>
                    <a:pt x="0" y="0"/>
                  </a:moveTo>
                  <a:lnTo>
                    <a:pt x="2033759" y="0"/>
                  </a:lnTo>
                  <a:lnTo>
                    <a:pt x="2033759" y="883814"/>
                  </a:lnTo>
                  <a:lnTo>
                    <a:pt x="0" y="883814"/>
                  </a:lnTo>
                  <a:close/>
                </a:path>
              </a:pathLst>
            </a:custGeom>
            <a:solidFill>
              <a:srgbClr val="527DBF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033759" cy="893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24952" y="2517781"/>
            <a:ext cx="51558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EFEFEF"/>
                </a:solidFill>
                <a:ea typeface="윤고딕 Medium"/>
              </a:rPr>
              <a:t>안경민</a:t>
            </a:r>
          </a:p>
        </p:txBody>
      </p:sp>
      <p:sp>
        <p:nvSpPr>
          <p:cNvPr id="14" name="Freeform 14"/>
          <p:cNvSpPr/>
          <p:nvPr/>
        </p:nvSpPr>
        <p:spPr>
          <a:xfrm>
            <a:off x="9933464" y="2708281"/>
            <a:ext cx="2062269" cy="2073762"/>
          </a:xfrm>
          <a:custGeom>
            <a:avLst/>
            <a:gdLst/>
            <a:ahLst/>
            <a:cxnLst/>
            <a:rect l="l" t="t" r="r" b="b"/>
            <a:pathLst>
              <a:path w="2062269" h="2073762">
                <a:moveTo>
                  <a:pt x="0" y="0"/>
                </a:moveTo>
                <a:lnTo>
                  <a:pt x="2062268" y="0"/>
                </a:lnTo>
                <a:lnTo>
                  <a:pt x="2062268" y="2073761"/>
                </a:lnTo>
                <a:lnTo>
                  <a:pt x="0" y="20737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620" r="-43030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9537370" y="5902569"/>
            <a:ext cx="7721930" cy="3355731"/>
            <a:chOff x="0" y="0"/>
            <a:chExt cx="2033759" cy="88381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33759" cy="883814"/>
            </a:xfrm>
            <a:custGeom>
              <a:avLst/>
              <a:gdLst/>
              <a:ahLst/>
              <a:cxnLst/>
              <a:rect l="l" t="t" r="r" b="b"/>
              <a:pathLst>
                <a:path w="2033759" h="883814">
                  <a:moveTo>
                    <a:pt x="0" y="0"/>
                  </a:moveTo>
                  <a:lnTo>
                    <a:pt x="2033759" y="0"/>
                  </a:lnTo>
                  <a:lnTo>
                    <a:pt x="2033759" y="883814"/>
                  </a:lnTo>
                  <a:lnTo>
                    <a:pt x="0" y="883814"/>
                  </a:lnTo>
                  <a:close/>
                </a:path>
              </a:pathLst>
            </a:custGeom>
            <a:solidFill>
              <a:srgbClr val="527DBF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2033759" cy="893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224952" y="6419265"/>
            <a:ext cx="51558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EFEFEF"/>
                </a:solidFill>
                <a:ea typeface="윤고딕 Medium"/>
              </a:rPr>
              <a:t>유지현</a:t>
            </a:r>
          </a:p>
        </p:txBody>
      </p:sp>
      <p:sp>
        <p:nvSpPr>
          <p:cNvPr id="19" name="Freeform 19"/>
          <p:cNvSpPr/>
          <p:nvPr/>
        </p:nvSpPr>
        <p:spPr>
          <a:xfrm>
            <a:off x="9921971" y="6537793"/>
            <a:ext cx="2073762" cy="2073762"/>
          </a:xfrm>
          <a:custGeom>
            <a:avLst/>
            <a:gdLst/>
            <a:ahLst/>
            <a:cxnLst/>
            <a:rect l="l" t="t" r="r" b="b"/>
            <a:pathLst>
              <a:path w="2073762" h="2073762">
                <a:moveTo>
                  <a:pt x="0" y="0"/>
                </a:moveTo>
                <a:lnTo>
                  <a:pt x="2073761" y="0"/>
                </a:lnTo>
                <a:lnTo>
                  <a:pt x="2073761" y="2073762"/>
                </a:lnTo>
                <a:lnTo>
                  <a:pt x="0" y="20737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702619" y="5902569"/>
            <a:ext cx="8256155" cy="3355731"/>
            <a:chOff x="0" y="0"/>
            <a:chExt cx="2174460" cy="88381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74460" cy="883814"/>
            </a:xfrm>
            <a:custGeom>
              <a:avLst/>
              <a:gdLst/>
              <a:ahLst/>
              <a:cxnLst/>
              <a:rect l="l" t="t" r="r" b="b"/>
              <a:pathLst>
                <a:path w="2174460" h="883814">
                  <a:moveTo>
                    <a:pt x="0" y="0"/>
                  </a:moveTo>
                  <a:lnTo>
                    <a:pt x="2174460" y="0"/>
                  </a:lnTo>
                  <a:lnTo>
                    <a:pt x="2174460" y="883814"/>
                  </a:lnTo>
                  <a:lnTo>
                    <a:pt x="0" y="883814"/>
                  </a:lnTo>
                  <a:close/>
                </a:path>
              </a:pathLst>
            </a:custGeom>
            <a:solidFill>
              <a:srgbClr val="527DBF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2174460" cy="893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81863" y="6419265"/>
            <a:ext cx="51558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EFEFEF"/>
                </a:solidFill>
                <a:ea typeface="윤고딕 Medium"/>
              </a:rPr>
              <a:t>서은영</a:t>
            </a:r>
          </a:p>
        </p:txBody>
      </p:sp>
      <p:sp>
        <p:nvSpPr>
          <p:cNvPr id="24" name="Freeform 24"/>
          <p:cNvSpPr/>
          <p:nvPr/>
        </p:nvSpPr>
        <p:spPr>
          <a:xfrm>
            <a:off x="1028700" y="6549314"/>
            <a:ext cx="2073762" cy="2062241"/>
          </a:xfrm>
          <a:custGeom>
            <a:avLst/>
            <a:gdLst/>
            <a:ahLst/>
            <a:cxnLst/>
            <a:rect l="l" t="t" r="r" b="b"/>
            <a:pathLst>
              <a:path w="2073762" h="2062241">
                <a:moveTo>
                  <a:pt x="0" y="0"/>
                </a:moveTo>
                <a:lnTo>
                  <a:pt x="2073762" y="0"/>
                </a:lnTo>
                <a:lnTo>
                  <a:pt x="2073762" y="2062241"/>
                </a:lnTo>
                <a:lnTo>
                  <a:pt x="0" y="20622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3134502" y="2648083"/>
            <a:ext cx="1696194" cy="450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EFEFEF"/>
                </a:solidFill>
                <a:latin typeface="윤고딕 Bold"/>
              </a:rPr>
              <a:t>________</a:t>
            </a:r>
            <a:r>
              <a:rPr lang="en-US" sz="2500">
                <a:solidFill>
                  <a:srgbClr val="EFEFEF"/>
                </a:solidFill>
                <a:latin typeface="윤고딕"/>
              </a:rPr>
              <a:t> </a:t>
            </a:r>
            <a:r>
              <a:rPr lang="en-US" sz="2500">
                <a:solidFill>
                  <a:srgbClr val="000000"/>
                </a:solidFill>
                <a:latin typeface="윤고딕"/>
              </a:rPr>
              <a:t> 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134502" y="6597851"/>
            <a:ext cx="1696194" cy="450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EFEFEF"/>
                </a:solidFill>
                <a:latin typeface="윤고딕 Bold"/>
              </a:rPr>
              <a:t>________</a:t>
            </a:r>
            <a:r>
              <a:rPr lang="en-US" sz="2500">
                <a:solidFill>
                  <a:srgbClr val="EFEFEF"/>
                </a:solidFill>
                <a:latin typeface="윤고딕"/>
              </a:rPr>
              <a:t> </a:t>
            </a:r>
            <a:r>
              <a:rPr lang="en-US" sz="2500">
                <a:solidFill>
                  <a:srgbClr val="000000"/>
                </a:solidFill>
                <a:latin typeface="윤고딕"/>
              </a:rPr>
              <a:t> 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024307" y="6597851"/>
            <a:ext cx="1696194" cy="450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EFEFEF"/>
                </a:solidFill>
                <a:latin typeface="윤고딕 Bold"/>
              </a:rPr>
              <a:t>________</a:t>
            </a:r>
            <a:r>
              <a:rPr lang="en-US" sz="2500">
                <a:solidFill>
                  <a:srgbClr val="EFEFEF"/>
                </a:solidFill>
                <a:latin typeface="윤고딕"/>
              </a:rPr>
              <a:t> </a:t>
            </a:r>
            <a:r>
              <a:rPr lang="en-US" sz="2500">
                <a:solidFill>
                  <a:srgbClr val="000000"/>
                </a:solidFill>
                <a:latin typeface="윤고딕"/>
              </a:rPr>
              <a:t> 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024307" y="2651131"/>
            <a:ext cx="1696194" cy="450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EFEFEF"/>
                </a:solidFill>
                <a:latin typeface="윤고딕 Bold"/>
              </a:rPr>
              <a:t>________</a:t>
            </a:r>
            <a:r>
              <a:rPr lang="en-US" sz="2500">
                <a:solidFill>
                  <a:srgbClr val="EFEFEF"/>
                </a:solidFill>
                <a:latin typeface="윤고딕"/>
              </a:rPr>
              <a:t> </a:t>
            </a:r>
            <a:r>
              <a:rPr lang="en-US" sz="2500">
                <a:solidFill>
                  <a:srgbClr val="000000"/>
                </a:solidFill>
                <a:latin typeface="윤고딕"/>
              </a:rPr>
              <a:t> 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214807" y="3175133"/>
            <a:ext cx="4749403" cy="174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4F4F4"/>
                </a:solidFill>
                <a:ea typeface="윤고딕"/>
              </a:rPr>
              <a:t>데이터베이스는 </a:t>
            </a: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4F4F4"/>
                </a:solidFill>
                <a:ea typeface="윤고딕"/>
              </a:rPr>
              <a:t>그저 데이터 모음이라고 생각했는데 </a:t>
            </a: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4F4F4"/>
                </a:solidFill>
                <a:ea typeface="윤고딕"/>
              </a:rPr>
              <a:t>실제로 규칙을 갖고 있다는 걸 </a:t>
            </a:r>
          </a:p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4F4F4"/>
                </a:solidFill>
                <a:latin typeface="윤고딕"/>
                <a:ea typeface="윤고딕"/>
              </a:rPr>
              <a:t>알게 되어 공부가 많이 되었다.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317791" y="3144520"/>
            <a:ext cx="5692080" cy="174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4F4F4"/>
                </a:solidFill>
                <a:latin typeface="윤고딕"/>
                <a:ea typeface="윤고딕"/>
              </a:rPr>
              <a:t>ERD를 처음 활용해보면서 각 데이터 </a:t>
            </a: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4F4F4"/>
                </a:solidFill>
                <a:latin typeface="윤고딕"/>
                <a:ea typeface="윤고딕"/>
              </a:rPr>
              <a:t>테이블 간의 관계를 정의할 수 있게 되었다. </a:t>
            </a: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4F4F4"/>
                </a:solidFill>
                <a:ea typeface="윤고딕"/>
              </a:rPr>
              <a:t>데이터를 실제로 활용하며 </a:t>
            </a:r>
          </a:p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4F4F4"/>
                </a:solidFill>
                <a:latin typeface="윤고딕"/>
                <a:ea typeface="윤고딕"/>
              </a:rPr>
              <a:t>기존 지식을 복습할 수 있었다.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317791" y="7282865"/>
            <a:ext cx="5425678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4F4F4"/>
                </a:solidFill>
                <a:latin typeface="윤고딕"/>
                <a:ea typeface="윤고딕"/>
              </a:rPr>
              <a:t>C언어와 또 다른 매력이 있는 것 같다.</a:t>
            </a: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4F4F4"/>
                </a:solidFill>
                <a:ea typeface="윤고딕"/>
              </a:rPr>
              <a:t>직접 테이블을 만들며 정보를 출력해보니 </a:t>
            </a:r>
          </a:p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4F4F4"/>
                </a:solidFill>
                <a:latin typeface="윤고딕"/>
                <a:ea typeface="윤고딕"/>
              </a:rPr>
              <a:t>DB에 관하여 더 알고싶어졌다.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250057" y="7303455"/>
            <a:ext cx="4549378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4F4F4"/>
                </a:solidFill>
                <a:ea typeface="윤고딕"/>
              </a:rPr>
              <a:t>수업시간에 배웠던 것들을 </a:t>
            </a: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4F4F4"/>
                </a:solidFill>
                <a:ea typeface="윤고딕"/>
              </a:rPr>
              <a:t>직접 활용해보면서 </a:t>
            </a:r>
          </a:p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4F4F4"/>
                </a:solidFill>
                <a:ea typeface="윤고딕"/>
              </a:rPr>
              <a:t>복습에 많이 도움이 되었던 것 같다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23015" y="2336362"/>
            <a:ext cx="2041969" cy="4114800"/>
          </a:xfrm>
          <a:custGeom>
            <a:avLst/>
            <a:gdLst/>
            <a:ahLst/>
            <a:cxnLst/>
            <a:rect l="l" t="t" r="r" b="b"/>
            <a:pathLst>
              <a:path w="2041969" h="4114800">
                <a:moveTo>
                  <a:pt x="0" y="0"/>
                </a:moveTo>
                <a:lnTo>
                  <a:pt x="2041970" y="0"/>
                </a:lnTo>
                <a:lnTo>
                  <a:pt x="20419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18058" y="6664763"/>
            <a:ext cx="6851884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31"/>
              </a:lnSpc>
            </a:pPr>
            <a:r>
              <a:rPr lang="en-US" sz="8442">
                <a:solidFill>
                  <a:srgbClr val="527DBF"/>
                </a:solidFill>
                <a:latin typeface="Montserrat Semi-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224</Words>
  <Application>Microsoft Office PowerPoint</Application>
  <PresentationFormat>사용자 지정</PresentationFormat>
  <Paragraphs>69</Paragraphs>
  <Slides>14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Calibri</vt:lpstr>
      <vt:lpstr>윤고딕 Bold</vt:lpstr>
      <vt:lpstr>윤고딕</vt:lpstr>
      <vt:lpstr>Montserrat Semi-Bold</vt:lpstr>
      <vt:lpstr>윤고딕 Medium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남색 흰색 검은색 낙서와 끄적임 사업 계획 비즈니스 프레젠테이션</dc:title>
  <dc:creator>User</dc:creator>
  <cp:lastModifiedBy>유나 이</cp:lastModifiedBy>
  <cp:revision>9</cp:revision>
  <dcterms:created xsi:type="dcterms:W3CDTF">2006-08-16T00:00:00Z</dcterms:created>
  <dcterms:modified xsi:type="dcterms:W3CDTF">2024-05-25T05:50:32Z</dcterms:modified>
  <dc:identifier>DAGFXb31lHA</dc:identifier>
</cp:coreProperties>
</file>